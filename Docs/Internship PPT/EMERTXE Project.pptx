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5143500" cx="9144000"/>
  <p:notesSz cx="6858000" cy="9144000"/>
  <p:embeddedFontLst>
    <p:embeddedFont>
      <p:font typeface="Robot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626E73-4F1A-4E8A-9CB6-E010F405C5E9}">
  <a:tblStyle styleId="{A9626E73-4F1A-4E8A-9CB6-E010F405C5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Robo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oboto-bold.fntdata"/><Relationship Id="rId14" Type="http://schemas.openxmlformats.org/officeDocument/2006/relationships/slide" Target="slides/slide8.xml"/><Relationship Id="rId58" Type="http://schemas.openxmlformats.org/officeDocument/2006/relationships/font" Target="fonts/Roboto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6cc11f0a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6cc11f0a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cc11f0a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6cc11f0a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6cc11f0ab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6cc11f0ab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740aa1f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c740aa1f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c740aa1fa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c740aa1fa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740aa1fa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740aa1fa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740aa1fa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740aa1fa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c740aa1fa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c740aa1fa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740aa1fa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c740aa1fa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764ca0d76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c764ca0d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764ca0d76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c764ca0d76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764ca0d76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c764ca0d7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c764ca0d76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c764ca0d76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764ca0d76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c764ca0d76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c740aa1fa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c740aa1fa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c764ca0d76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c764ca0d76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c764ca0d76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c764ca0d76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c764ca0d76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c764ca0d76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c764ca0d76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c764ca0d76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c764ca0d7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c764ca0d7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c764ca0d76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c764ca0d76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764ca0d76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c764ca0d76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c764ca0d76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c764ca0d76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c740aa1fa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c740aa1fa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c764ca0d76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c764ca0d76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c740aa1fa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c740aa1fa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740aa1fa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c740aa1fa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c740aa1fa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c740aa1fa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c740aa1fa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c740aa1fa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c740aa1fa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c740aa1fa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c764ca0d76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c764ca0d76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c740aa1fa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c740aa1fa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c740aa1fa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c740aa1fa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c742d2d59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c742d2d59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c742d2d59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c742d2d59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c764ca0d7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c764ca0d7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c764ca0d7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c764ca0d7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c764ca0d7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c764ca0d7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764ca0d7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c764ca0d7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c764ca0d7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c764ca0d7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c764ca0d7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c764ca0d7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c764ca0d7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c764ca0d7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c764ca0d7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c764ca0d7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c764ca0d7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c764ca0d7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c764ca0d7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c764ca0d7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c742d2d59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c742d2d59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c742d2d59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c742d2d59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c742d2d59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c742d2d59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c742d2d59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c742d2d59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c764ca0d7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c764ca0d7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ahaj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1580550"/>
            <a:ext cx="9144000" cy="3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Microcontroller-Based Washing Machine </a:t>
            </a:r>
            <a:endParaRPr b="1" sz="2600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Simulation Using Picsimlab</a:t>
            </a:r>
            <a:endParaRPr b="1"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C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CD"/>
                </a:solidFill>
              </a:rPr>
              <a:t>Team Members:                                             Project Mentor:</a:t>
            </a:r>
            <a:endParaRPr b="1" sz="2000">
              <a:solidFill>
                <a:srgbClr val="0000C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R.GANESH                                                        JAYALAXMI N.DHANYAL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</a:t>
            </a:r>
            <a:r>
              <a:rPr b="1" lang="en-GB" sz="1800">
                <a:solidFill>
                  <a:schemeClr val="dk1"/>
                </a:solidFill>
              </a:rPr>
              <a:t>Sk.ARIEF</a:t>
            </a:r>
            <a:r>
              <a:rPr b="1" lang="en-GB" sz="1800">
                <a:solidFill>
                  <a:schemeClr val="dk1"/>
                </a:solidFill>
              </a:rPr>
              <a:t>    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K.CHANDANA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    P.GURUSA</a:t>
            </a:r>
            <a:r>
              <a:rPr b="1" lang="en-GB" sz="1800">
                <a:solidFill>
                  <a:schemeClr val="dk1"/>
                </a:solidFill>
              </a:rPr>
              <a:t>I   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 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</a:t>
            </a:r>
            <a:r>
              <a:rPr b="1" lang="en-GB" sz="1800">
                <a:solidFill>
                  <a:schemeClr val="dk1"/>
                </a:solidFill>
              </a:rPr>
              <a:t>DEPARTMENT OF </a:t>
            </a:r>
            <a:r>
              <a:rPr b="1" lang="en-GB" sz="1800">
                <a:solidFill>
                  <a:srgbClr val="FF00FF"/>
                </a:solidFill>
              </a:rPr>
              <a:t>ELECTRONICS AND COMMUNICATION ENGINEERING</a:t>
            </a:r>
            <a:r>
              <a:rPr b="1" lang="en-GB" sz="2000">
                <a:solidFill>
                  <a:schemeClr val="dk1"/>
                </a:solidFill>
              </a:rPr>
              <a:t>( ECE )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 </a:t>
            </a:r>
            <a:r>
              <a:rPr b="1" lang="en-GB" sz="1900">
                <a:solidFill>
                  <a:schemeClr val="dk1"/>
                </a:solidFill>
              </a:rPr>
              <a:t>3rd years of </a:t>
            </a:r>
            <a:r>
              <a:rPr b="1" lang="en-GB" sz="1900">
                <a:solidFill>
                  <a:srgbClr val="A52A2A"/>
                </a:solidFill>
              </a:rPr>
              <a:t>SRI VENKATESWARA ENGINEERING COLLEGE, </a:t>
            </a:r>
            <a:r>
              <a:rPr b="1" lang="en-GB" sz="1900">
                <a:solidFill>
                  <a:schemeClr val="dk1"/>
                </a:solidFill>
              </a:rPr>
              <a:t>Tirupati,517507.</a:t>
            </a:r>
            <a:endParaRPr b="1" sz="1900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875575"/>
            <a:ext cx="8572500" cy="78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803675" y="321475"/>
            <a:ext cx="771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9900FF"/>
                </a:solidFill>
              </a:rPr>
              <a:t>EMBEDDED SYSTEMS INTERNSHIP</a:t>
            </a:r>
            <a:endParaRPr b="1" sz="24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USE OF C LANGUAGE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1.C programming is the Basic language.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2.Used in software Development.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3.Used in Embedded software Development.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4.Efficiency is high while comparing to remaining languages.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5.OS 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kernel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Development.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Code Structure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8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#include&lt;stdio.h&gt;                         ⇐Preprocessor Directive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int main()                                       ⇐The start of program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/* To Display Hello World */       ⇐comment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printf(“ HelloWorld \n ”);           ⇐statement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return 0;                                     ⇐return statement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}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Number Systems </a:t>
            </a:r>
            <a:r>
              <a:rPr b="1" lang="en-GB">
                <a:solidFill>
                  <a:srgbClr val="1155CC"/>
                </a:solidFill>
              </a:rPr>
              <a:t>conversions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937625"/>
            <a:ext cx="8520600" cy="42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1.A number is generally represented as 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-GB">
                <a:solidFill>
                  <a:schemeClr val="dk1"/>
                </a:solidFill>
              </a:rPr>
              <a:t>Decimal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-GB">
                <a:solidFill>
                  <a:schemeClr val="dk1"/>
                </a:solidFill>
              </a:rPr>
              <a:t>Octal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-GB">
                <a:solidFill>
                  <a:schemeClr val="dk1"/>
                </a:solidFill>
              </a:rPr>
              <a:t>Hexadecimal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-GB">
                <a:solidFill>
                  <a:schemeClr val="dk1"/>
                </a:solidFill>
              </a:rPr>
              <a:t>Binary</a:t>
            </a:r>
            <a:endParaRPr b="1">
              <a:solidFill>
                <a:schemeClr val="dk1"/>
              </a:solidFill>
            </a:endParaRPr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952500" y="279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{A9626E73-4F1A-4E8A-9CB6-E010F405C5E9}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Type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Range ( 8 bits )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Decimal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0 - 255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Octal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</a:rPr>
                        <a:t>000 - 0377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hexadecimal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</a:rPr>
                        <a:t>0x00 - 0xFF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Binary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0b00000000 - 0b11111111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Data Representation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1.Bit Representation: High &amp; Low states such as 1 &amp; 0.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2.Byte Representation: A unit of Digital Information.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                                    Commonly 1 byte = 8 bits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3.Word Representation: An Amount of data that a machine can fetch and process at one time.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   Example: An </a:t>
            </a:r>
            <a:r>
              <a:rPr b="1" lang="en-GB">
                <a:solidFill>
                  <a:schemeClr val="dk1"/>
                </a:solidFill>
              </a:rPr>
              <a:t>integer</a:t>
            </a:r>
            <a:r>
              <a:rPr b="1" lang="en-GB">
                <a:solidFill>
                  <a:schemeClr val="dk1"/>
                </a:solidFill>
              </a:rPr>
              <a:t> no of bytes is 1,2,4,8.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 For 32 bit chip has a 32 bits( 4 bytes ) word size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4.Integer Number - positive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 Mathematically: -k=2^n - k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1st bit in 8 bits represents positive or negative </a:t>
            </a:r>
            <a:r>
              <a:rPr b="1" lang="en-GB">
                <a:solidFill>
                  <a:schemeClr val="dk1"/>
                </a:solidFill>
              </a:rPr>
              <a:t>integer</a:t>
            </a:r>
            <a:r>
              <a:rPr b="1" lang="en-GB">
                <a:solidFill>
                  <a:schemeClr val="dk1"/>
                </a:solidFill>
              </a:rPr>
              <a:t>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What is an Embedded System ?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1.It is the combination of Hardware and software which is designed to perform a specific task.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2.Hardware components has become cheap.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3.They are available in abundance.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4.Components have been miniaturized.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Examples for Embedded system: Washing Machine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                                                 Microwave oven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                                                 Smart </a:t>
            </a:r>
            <a:r>
              <a:rPr b="1" lang="en-GB" sz="2000">
                <a:solidFill>
                  <a:schemeClr val="dk1"/>
                </a:solidFill>
              </a:rPr>
              <a:t>Refrigerators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                                                 WIFI modem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Wearables &amp; Hospital Equipments: Smart watches, Fitness devices, ECG.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Commonly Seen Components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1.ROM - Read O</a:t>
            </a:r>
            <a:r>
              <a:rPr b="1" lang="en-GB">
                <a:solidFill>
                  <a:schemeClr val="dk1"/>
                </a:solidFill>
              </a:rPr>
              <a:t>nly</a:t>
            </a:r>
            <a:r>
              <a:rPr b="1" lang="en-GB">
                <a:solidFill>
                  <a:schemeClr val="dk1"/>
                </a:solidFill>
              </a:rPr>
              <a:t> Memory            /  Primary storage device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2. RAM - Random Access Memory / </a:t>
            </a:r>
            <a:r>
              <a:rPr b="1" lang="en-GB">
                <a:solidFill>
                  <a:schemeClr val="dk1"/>
                </a:solidFill>
              </a:rPr>
              <a:t>Secondary storage device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3.Microprocessor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4.Microcontroller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5.</a:t>
            </a:r>
            <a:r>
              <a:rPr b="1" lang="en-GB">
                <a:solidFill>
                  <a:schemeClr val="dk1"/>
                </a:solidFill>
              </a:rPr>
              <a:t>Actuators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6.Sensors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7.Power supply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8.Motors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420">
                <a:solidFill>
                  <a:srgbClr val="1155CC"/>
                </a:solidFill>
              </a:rPr>
              <a:t>Difference Between </a:t>
            </a:r>
            <a:r>
              <a:rPr b="1" lang="en-GB" sz="2420">
                <a:solidFill>
                  <a:srgbClr val="1155CC"/>
                </a:solidFill>
              </a:rPr>
              <a:t>Microprocessor</a:t>
            </a:r>
            <a:r>
              <a:rPr b="1" lang="en-GB" sz="2420">
                <a:solidFill>
                  <a:srgbClr val="1155CC"/>
                </a:solidFill>
              </a:rPr>
              <a:t> &amp; </a:t>
            </a:r>
            <a:r>
              <a:rPr b="1" lang="en-GB" sz="2420">
                <a:solidFill>
                  <a:srgbClr val="1155CC"/>
                </a:solidFill>
              </a:rPr>
              <a:t>Microcontroller</a:t>
            </a:r>
            <a:endParaRPr b="1" sz="2420">
              <a:solidFill>
                <a:srgbClr val="1155CC"/>
              </a:solidFill>
            </a:endParaRPr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50" y="499075"/>
            <a:ext cx="8764299" cy="464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Basic Data types 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017725"/>
            <a:ext cx="85206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                                            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Data types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108" name="Google Shape;108;p21"/>
          <p:cNvCxnSpPr/>
          <p:nvPr/>
        </p:nvCxnSpPr>
        <p:spPr>
          <a:xfrm flipH="1" rot="10800000">
            <a:off x="1794875" y="1553750"/>
            <a:ext cx="1366200" cy="1259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21"/>
          <p:cNvCxnSpPr/>
          <p:nvPr/>
        </p:nvCxnSpPr>
        <p:spPr>
          <a:xfrm rot="10800000">
            <a:off x="1835075" y="2812850"/>
            <a:ext cx="1285800" cy="1285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21"/>
          <p:cNvSpPr txBox="1"/>
          <p:nvPr/>
        </p:nvSpPr>
        <p:spPr>
          <a:xfrm>
            <a:off x="3241475" y="1312650"/>
            <a:ext cx="19020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Integer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3120875" y="3862675"/>
            <a:ext cx="19020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Floating point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5850125" y="1152475"/>
            <a:ext cx="19020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Char ( 1 byte 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5917100" y="1922150"/>
            <a:ext cx="24678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Int  ( 2 or 4 bytes 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6109525" y="3527875"/>
            <a:ext cx="19020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Float ( 4 bytes 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5980800" y="4324925"/>
            <a:ext cx="26988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Double ( 8 bytes )</a:t>
            </a:r>
            <a:endParaRPr b="1" sz="1800">
              <a:solidFill>
                <a:schemeClr val="dk1"/>
              </a:solidFill>
            </a:endParaRPr>
          </a:p>
        </p:txBody>
      </p:sp>
      <p:cxnSp>
        <p:nvCxnSpPr>
          <p:cNvPr id="116" name="Google Shape;116;p21"/>
          <p:cNvCxnSpPr/>
          <p:nvPr/>
        </p:nvCxnSpPr>
        <p:spPr>
          <a:xfrm rot="10800000">
            <a:off x="4219400" y="1553750"/>
            <a:ext cx="1697700" cy="642900"/>
          </a:xfrm>
          <a:prstGeom prst="bentConnector3">
            <a:avLst>
              <a:gd fmla="val 3925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21"/>
          <p:cNvCxnSpPr/>
          <p:nvPr/>
        </p:nvCxnSpPr>
        <p:spPr>
          <a:xfrm flipH="1" rot="10800000">
            <a:off x="4580925" y="1312575"/>
            <a:ext cx="1336200" cy="241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21"/>
          <p:cNvCxnSpPr>
            <a:stCxn id="115" idx="1"/>
          </p:cNvCxnSpPr>
          <p:nvPr/>
        </p:nvCxnSpPr>
        <p:spPr>
          <a:xfrm rot="10800000">
            <a:off x="4813800" y="4098725"/>
            <a:ext cx="1167000" cy="393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21"/>
          <p:cNvCxnSpPr/>
          <p:nvPr/>
        </p:nvCxnSpPr>
        <p:spPr>
          <a:xfrm flipH="1">
            <a:off x="4942525" y="3705050"/>
            <a:ext cx="1167000" cy="393600"/>
          </a:xfrm>
          <a:prstGeom prst="bentConnector3">
            <a:avLst>
              <a:gd fmla="val 5982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Conditional </a:t>
            </a:r>
            <a:r>
              <a:rPr b="1" lang="en-GB">
                <a:solidFill>
                  <a:srgbClr val="1155CC"/>
                </a:solidFill>
              </a:rPr>
              <a:t>Constructs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 Conditional constructs are classified into 2 types</a:t>
            </a:r>
            <a:endParaRPr b="1"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Single iteration</a:t>
            </a:r>
            <a:endParaRPr b="1"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Multi iteration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2.Single iteration</a:t>
            </a:r>
            <a:endParaRPr b="1"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If</a:t>
            </a:r>
            <a:endParaRPr b="1"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If else</a:t>
            </a:r>
            <a:endParaRPr b="1"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Nested if else</a:t>
            </a:r>
            <a:endParaRPr b="1"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Switch case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3.Multi iteration</a:t>
            </a:r>
            <a:endParaRPr b="1"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For </a:t>
            </a:r>
            <a:endParaRPr b="1"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While</a:t>
            </a:r>
            <a:endParaRPr b="1"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Do while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Single iteration 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1.If statement syntax: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rgbClr val="0000CD"/>
                </a:solidFill>
              </a:rPr>
              <a:t>if</a:t>
            </a:r>
            <a:r>
              <a:rPr b="1" lang="en-GB">
                <a:solidFill>
                  <a:schemeClr val="dk1"/>
                </a:solidFill>
              </a:rPr>
              <a:t> (</a:t>
            </a:r>
            <a:r>
              <a:rPr b="1" i="1" lang="en-GB">
                <a:solidFill>
                  <a:schemeClr val="dk1"/>
                </a:solidFill>
              </a:rPr>
              <a:t>condition</a:t>
            </a:r>
            <a:r>
              <a:rPr b="1" lang="en-GB">
                <a:solidFill>
                  <a:schemeClr val="dk1"/>
                </a:solidFill>
              </a:rPr>
              <a:t>) 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</a:t>
            </a:r>
            <a:r>
              <a:rPr b="1" i="1" lang="en-GB">
                <a:solidFill>
                  <a:srgbClr val="008000"/>
                </a:solidFill>
              </a:rPr>
              <a:t>// block of code to be executed if the condition is true</a:t>
            </a:r>
            <a:endParaRPr b="1" i="1"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2.If else statement syntax: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rgbClr val="0000CD"/>
                </a:solidFill>
              </a:rPr>
              <a:t>if</a:t>
            </a:r>
            <a:r>
              <a:rPr b="1" lang="en-GB">
                <a:solidFill>
                  <a:schemeClr val="dk1"/>
                </a:solidFill>
              </a:rPr>
              <a:t> (</a:t>
            </a:r>
            <a:r>
              <a:rPr b="1" i="1" lang="en-GB">
                <a:solidFill>
                  <a:schemeClr val="dk1"/>
                </a:solidFill>
              </a:rPr>
              <a:t>condition</a:t>
            </a:r>
            <a:r>
              <a:rPr b="1" lang="en-GB">
                <a:solidFill>
                  <a:schemeClr val="dk1"/>
                </a:solidFill>
              </a:rPr>
              <a:t>) 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</a:t>
            </a:r>
            <a:r>
              <a:rPr b="1" i="1" lang="en-GB">
                <a:solidFill>
                  <a:srgbClr val="008000"/>
                </a:solidFill>
              </a:rPr>
              <a:t>// block of code to be executed if the condition is true</a:t>
            </a:r>
            <a:endParaRPr b="1" i="1"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Else{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  </a:t>
            </a:r>
            <a:r>
              <a:rPr b="1" i="1" lang="en-GB">
                <a:solidFill>
                  <a:srgbClr val="008000"/>
                </a:solidFill>
              </a:rPr>
              <a:t>//block of code to be executed if the condition is false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1155CC"/>
                </a:solidFill>
              </a:rPr>
              <a:t>Single iteration </a:t>
            </a:r>
            <a:endParaRPr b="1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3.Else if statement syntax: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rgbClr val="0000CD"/>
                </a:solidFill>
              </a:rPr>
              <a:t>if</a:t>
            </a:r>
            <a:r>
              <a:rPr b="1" lang="en-GB">
                <a:solidFill>
                  <a:schemeClr val="dk1"/>
                </a:solidFill>
              </a:rPr>
              <a:t> (</a:t>
            </a:r>
            <a:r>
              <a:rPr b="1" i="1" lang="en-GB">
                <a:solidFill>
                  <a:schemeClr val="dk1"/>
                </a:solidFill>
              </a:rPr>
              <a:t>condition1</a:t>
            </a:r>
            <a:r>
              <a:rPr b="1" lang="en-GB">
                <a:solidFill>
                  <a:schemeClr val="dk1"/>
                </a:solidFill>
              </a:rPr>
              <a:t>) 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</a:t>
            </a:r>
            <a:r>
              <a:rPr b="1" i="1" lang="en-GB">
                <a:solidFill>
                  <a:srgbClr val="008000"/>
                </a:solidFill>
              </a:rPr>
              <a:t>// block of code to be executed if condition1 is true</a:t>
            </a:r>
            <a:endParaRPr b="1" i="1"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 </a:t>
            </a:r>
            <a:r>
              <a:rPr b="1" lang="en-GB">
                <a:solidFill>
                  <a:srgbClr val="0000CD"/>
                </a:solidFill>
              </a:rPr>
              <a:t>else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en-GB">
                <a:solidFill>
                  <a:srgbClr val="0000CD"/>
                </a:solidFill>
              </a:rPr>
              <a:t>if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b="1" i="1" lang="en-GB">
                <a:solidFill>
                  <a:schemeClr val="dk1"/>
                </a:solidFill>
              </a:rPr>
              <a:t>condition2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r>
              <a:rPr b="1" i="1" lang="en-GB">
                <a:solidFill>
                  <a:srgbClr val="008000"/>
                </a:solidFill>
              </a:rPr>
              <a:t>// block of code to be executed if the condition1 is false and condition2 is true</a:t>
            </a:r>
            <a:endParaRPr b="1" i="1"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 </a:t>
            </a:r>
            <a:r>
              <a:rPr b="1" lang="en-GB">
                <a:solidFill>
                  <a:srgbClr val="0000CD"/>
                </a:solidFill>
              </a:rPr>
              <a:t>else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{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r>
              <a:rPr b="1" i="1" lang="en-GB">
                <a:solidFill>
                  <a:srgbClr val="008000"/>
                </a:solidFill>
              </a:rPr>
              <a:t>// block of code to be executed if the condition1 is false and condition2 is false</a:t>
            </a:r>
            <a:endParaRPr b="1" i="1"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177750" y="69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1155CC"/>
                </a:solidFill>
              </a:rPr>
              <a:t>Single iteration </a:t>
            </a:r>
            <a:endParaRPr b="1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110775" y="542700"/>
            <a:ext cx="8520600" cy="46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4. Switch case statement syntax: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0000CD"/>
                </a:solidFill>
              </a:rPr>
              <a:t>switch</a:t>
            </a:r>
            <a:r>
              <a:rPr b="1" lang="en-GB">
                <a:solidFill>
                  <a:schemeClr val="dk1"/>
                </a:solidFill>
              </a:rPr>
              <a:t> (</a:t>
            </a:r>
            <a:r>
              <a:rPr b="1" i="1" lang="en-GB">
                <a:solidFill>
                  <a:schemeClr val="dk1"/>
                </a:solidFill>
              </a:rPr>
              <a:t>expression</a:t>
            </a:r>
            <a:r>
              <a:rPr b="1" lang="en-GB">
                <a:solidFill>
                  <a:schemeClr val="dk1"/>
                </a:solidFill>
              </a:rPr>
              <a:t>) 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</a:t>
            </a:r>
            <a:r>
              <a:rPr b="1" lang="en-GB">
                <a:solidFill>
                  <a:srgbClr val="0000CD"/>
                </a:solidFill>
              </a:rPr>
              <a:t>case</a:t>
            </a:r>
            <a:r>
              <a:rPr b="1" lang="en-GB">
                <a:solidFill>
                  <a:schemeClr val="dk1"/>
                </a:solidFill>
              </a:rPr>
              <a:t> x: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  </a:t>
            </a:r>
            <a:r>
              <a:rPr b="1" i="1" lang="en-GB">
                <a:solidFill>
                  <a:srgbClr val="008000"/>
                </a:solidFill>
              </a:rPr>
              <a:t>// code block</a:t>
            </a:r>
            <a:endParaRPr b="1" i="1"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  </a:t>
            </a:r>
            <a:r>
              <a:rPr b="1" lang="en-GB">
                <a:solidFill>
                  <a:srgbClr val="0000CD"/>
                </a:solidFill>
              </a:rPr>
              <a:t>break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r>
              <a:rPr b="1" lang="en-GB">
                <a:solidFill>
                  <a:srgbClr val="0000CD"/>
                </a:solidFill>
              </a:rPr>
              <a:t>case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y: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b="1" i="1" lang="en-GB">
                <a:solidFill>
                  <a:srgbClr val="008000"/>
                </a:solidFill>
              </a:rPr>
              <a:t>// code block</a:t>
            </a:r>
            <a:endParaRPr b="1" i="1"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  </a:t>
            </a:r>
            <a:r>
              <a:rPr b="1" lang="en-GB">
                <a:solidFill>
                  <a:srgbClr val="0000CD"/>
                </a:solidFill>
              </a:rPr>
              <a:t>break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r>
              <a:rPr b="1" lang="en-GB">
                <a:solidFill>
                  <a:srgbClr val="0000CD"/>
                </a:solidFill>
              </a:rPr>
              <a:t>default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: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b="1" i="1" lang="en-GB">
                <a:solidFill>
                  <a:srgbClr val="008000"/>
                </a:solidFill>
              </a:rPr>
              <a:t>// code block</a:t>
            </a:r>
            <a:endParaRPr b="1" i="1"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Multi iteration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1.For loop statement syntax: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0000CD"/>
                </a:solidFill>
              </a:rPr>
              <a:t>for</a:t>
            </a:r>
            <a:r>
              <a:rPr b="1" lang="en-GB">
                <a:solidFill>
                  <a:schemeClr val="dk1"/>
                </a:solidFill>
              </a:rPr>
              <a:t> (</a:t>
            </a:r>
            <a:r>
              <a:rPr b="1" i="1" lang="en-GB">
                <a:solidFill>
                  <a:schemeClr val="dk1"/>
                </a:solidFill>
              </a:rPr>
              <a:t>expression 1</a:t>
            </a:r>
            <a:r>
              <a:rPr b="1" lang="en-GB">
                <a:solidFill>
                  <a:schemeClr val="dk1"/>
                </a:solidFill>
              </a:rPr>
              <a:t>;</a:t>
            </a:r>
            <a:r>
              <a:rPr b="1" i="1" lang="en-GB">
                <a:solidFill>
                  <a:schemeClr val="dk1"/>
                </a:solidFill>
              </a:rPr>
              <a:t> expression 2</a:t>
            </a:r>
            <a:r>
              <a:rPr b="1" lang="en-GB">
                <a:solidFill>
                  <a:schemeClr val="dk1"/>
                </a:solidFill>
              </a:rPr>
              <a:t>;</a:t>
            </a:r>
            <a:r>
              <a:rPr b="1" i="1" lang="en-GB">
                <a:solidFill>
                  <a:schemeClr val="dk1"/>
                </a:solidFill>
              </a:rPr>
              <a:t> expression 3</a:t>
            </a:r>
            <a:r>
              <a:rPr b="1" lang="en-GB">
                <a:solidFill>
                  <a:schemeClr val="dk1"/>
                </a:solidFill>
              </a:rPr>
              <a:t>) 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</a:t>
            </a:r>
            <a:r>
              <a:rPr b="1" i="1" lang="en-GB">
                <a:solidFill>
                  <a:srgbClr val="008000"/>
                </a:solidFill>
              </a:rPr>
              <a:t>// code block to be executed</a:t>
            </a:r>
            <a:endParaRPr b="1" i="1"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2.while loop statement syntax: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0000CD"/>
                </a:solidFill>
              </a:rPr>
              <a:t>while</a:t>
            </a:r>
            <a:r>
              <a:rPr b="1" lang="en-GB">
                <a:solidFill>
                  <a:schemeClr val="dk1"/>
                </a:solidFill>
              </a:rPr>
              <a:t> (</a:t>
            </a:r>
            <a:r>
              <a:rPr b="1" i="1" lang="en-GB">
                <a:solidFill>
                  <a:schemeClr val="dk1"/>
                </a:solidFill>
              </a:rPr>
              <a:t>condition</a:t>
            </a:r>
            <a:r>
              <a:rPr b="1" lang="en-GB">
                <a:solidFill>
                  <a:schemeClr val="dk1"/>
                </a:solidFill>
              </a:rPr>
              <a:t>) 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GB">
                <a:solidFill>
                  <a:schemeClr val="dk1"/>
                </a:solidFill>
              </a:rPr>
              <a:t>  </a:t>
            </a:r>
            <a:r>
              <a:rPr b="1" i="1" lang="en-GB">
                <a:solidFill>
                  <a:srgbClr val="008000"/>
                </a:solidFill>
              </a:rPr>
              <a:t>// code block to be executed</a:t>
            </a:r>
            <a:endParaRPr b="1" i="1"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1155CC"/>
                </a:solidFill>
              </a:rPr>
              <a:t>Multi iteration</a:t>
            </a:r>
            <a:endParaRPr b="1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3.do while loop statement syntax: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0000CD"/>
                </a:solidFill>
                <a:highlight>
                  <a:srgbClr val="FFFFFF"/>
                </a:highlight>
              </a:rPr>
              <a:t>do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{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GB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r>
              <a:rPr b="1" i="1" lang="en-GB">
                <a:solidFill>
                  <a:srgbClr val="008000"/>
                </a:solidFill>
                <a:highlight>
                  <a:srgbClr val="FFFFFF"/>
                </a:highlight>
              </a:rPr>
              <a:t>// code block to be executed</a:t>
            </a:r>
            <a:endParaRPr b="1" i="1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rgbClr val="0000CD"/>
                </a:solidFill>
                <a:highlight>
                  <a:srgbClr val="FFFFFF"/>
                </a:highlight>
              </a:rPr>
              <a:t>while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b="1" i="1" lang="en-GB">
                <a:solidFill>
                  <a:schemeClr val="dk1"/>
                </a:solidFill>
                <a:highlight>
                  <a:srgbClr val="FFFFFF"/>
                </a:highlight>
              </a:rPr>
              <a:t>condition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Operators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C divides the operators into the following groups: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❖"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Arithmetic operators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❖"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Assignment operators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❖"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Comparison operators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❖"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Logical operators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❖"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Bitwise operators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❖"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Ternary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operator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123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Arithmetic operators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696250"/>
            <a:ext cx="8520600" cy="3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Arithmetic operators are used to perform common mathematical operations.</a:t>
            </a:r>
            <a:endParaRPr b="1"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263" y="1315338"/>
            <a:ext cx="6753225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56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en-GB" sz="2500">
                <a:solidFill>
                  <a:srgbClr val="1155CC"/>
                </a:solidFill>
                <a:highlight>
                  <a:srgbClr val="FFFFFF"/>
                </a:highlight>
              </a:rPr>
              <a:t>Assignment operators</a:t>
            </a:r>
            <a:endParaRPr b="1" sz="2500">
              <a:solidFill>
                <a:srgbClr val="1155CC"/>
              </a:solidFill>
            </a:endParaRPr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</a:rPr>
              <a:t>shdk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050" y="629275"/>
            <a:ext cx="6864551" cy="44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1155CC"/>
                </a:solidFill>
                <a:highlight>
                  <a:srgbClr val="FFFFFF"/>
                </a:highlight>
              </a:rPr>
              <a:t>Comparison Operators</a:t>
            </a:r>
            <a:endParaRPr b="1" sz="2500">
              <a:solidFill>
                <a:srgbClr val="1155C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155CC"/>
              </a:solidFill>
            </a:endParaRPr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2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1.Comparison operators are used to compare two values (or variables). 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2.This is important in programming, because it helps us to find answers and make decisions.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3.The return value of a comparison is either </a:t>
            </a:r>
            <a:r>
              <a:rPr b="1" lang="en-GB">
                <a:solidFill>
                  <a:srgbClr val="DC143C"/>
                </a:solidFill>
                <a:highlight>
                  <a:srgbClr val="FFFFFF"/>
                </a:highlight>
              </a:rPr>
              <a:t>1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or </a:t>
            </a:r>
            <a:r>
              <a:rPr b="1" lang="en-GB">
                <a:solidFill>
                  <a:srgbClr val="DC143C"/>
                </a:solidFill>
                <a:highlight>
                  <a:srgbClr val="FFFFFF"/>
                </a:highlight>
              </a:rPr>
              <a:t>0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, which means true (</a:t>
            </a:r>
            <a:r>
              <a:rPr b="1" lang="en-GB">
                <a:solidFill>
                  <a:srgbClr val="DC143C"/>
                </a:solidFill>
                <a:highlight>
                  <a:srgbClr val="FFFFFF"/>
                </a:highlight>
              </a:rPr>
              <a:t>1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) or false (</a:t>
            </a:r>
            <a:r>
              <a:rPr b="1" lang="en-GB">
                <a:solidFill>
                  <a:srgbClr val="DC143C"/>
                </a:solidFill>
                <a:highlight>
                  <a:srgbClr val="FFFFFF"/>
                </a:highlight>
              </a:rPr>
              <a:t>0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).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-GB" sz="2500">
                <a:solidFill>
                  <a:srgbClr val="1155CC"/>
                </a:solidFill>
                <a:highlight>
                  <a:srgbClr val="FFFFFF"/>
                </a:highlight>
              </a:rPr>
              <a:t>Comparison Operators</a:t>
            </a:r>
            <a:endParaRPr b="1" sz="2500">
              <a:solidFill>
                <a:srgbClr val="1155C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b="1" sz="25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</a:rPr>
              <a:t>sgah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75" y="1069975"/>
            <a:ext cx="7983149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136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1155CC"/>
                </a:solidFill>
                <a:highlight>
                  <a:srgbClr val="FFFFFF"/>
                </a:highlight>
              </a:rPr>
              <a:t>Logical Operators</a:t>
            </a:r>
            <a:endParaRPr b="1" sz="2500">
              <a:solidFill>
                <a:srgbClr val="1155C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155CC"/>
              </a:solidFill>
            </a:endParaRPr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709650"/>
            <a:ext cx="8520600" cy="42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1.You can also test for true or false values with logical operators.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2.Logical operators are used to determine the logic between variables or values: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175" y="2250275"/>
            <a:ext cx="8050125" cy="19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83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1155CC"/>
                </a:solidFill>
                <a:highlight>
                  <a:srgbClr val="FFFFFF"/>
                </a:highlight>
              </a:rPr>
              <a:t>Bitwise operator</a:t>
            </a:r>
            <a:endParaRPr b="1" sz="2500">
              <a:solidFill>
                <a:srgbClr val="1155C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11700" y="575975"/>
            <a:ext cx="8520600" cy="45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b="1" lang="en-GB">
                <a:solidFill>
                  <a:srgbClr val="273239"/>
                </a:solidFill>
                <a:highlight>
                  <a:srgbClr val="FFFFFF"/>
                </a:highlight>
              </a:rPr>
              <a:t>6 operators are bitwise operators (also known as bit operators as they work at the bit-level).</a:t>
            </a:r>
            <a:endParaRPr b="1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AutoNum type="arabicPeriod"/>
            </a:pPr>
            <a:r>
              <a:rPr b="1" lang="en-GB">
                <a:solidFill>
                  <a:srgbClr val="273239"/>
                </a:solidFill>
                <a:highlight>
                  <a:srgbClr val="FFFFFF"/>
                </a:highlight>
              </a:rPr>
              <a:t>The &amp; (bitwise AND) in C takes two numbers as operands and does AND on every bit of two numbers. The result of AND is 1 only if both bits are 1.</a:t>
            </a:r>
            <a:endParaRPr b="1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73239"/>
                </a:solidFill>
                <a:highlight>
                  <a:srgbClr val="FFFFFF"/>
                </a:highlight>
              </a:rPr>
              <a:t>2.The | (bitwise OR) in C takes two numbers as operands and does OR on every bit of two numbers. The result of OR is 1 if any of the two bits is 1. </a:t>
            </a:r>
            <a:endParaRPr b="1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73239"/>
                </a:solidFill>
                <a:highlight>
                  <a:srgbClr val="FFFFFF"/>
                </a:highlight>
              </a:rPr>
              <a:t>3.The ^ (bitwise XOR) in C takes two numbers as operands and does XOR on every bit of two numbers. The result of XOR is 1 if the two bits are different. </a:t>
            </a:r>
            <a:endParaRPr b="1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27323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-GB" sz="2500">
                <a:solidFill>
                  <a:srgbClr val="1155CC"/>
                </a:solidFill>
                <a:highlight>
                  <a:srgbClr val="FFFFFF"/>
                </a:highlight>
              </a:rPr>
              <a:t>Bitwise operator</a:t>
            </a:r>
            <a:endParaRPr b="1" sz="2500">
              <a:solidFill>
                <a:srgbClr val="1155C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b="1" sz="25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273239"/>
                </a:solidFill>
                <a:highlight>
                  <a:srgbClr val="FFFFFF"/>
                </a:highlight>
              </a:rPr>
              <a:t>4.The &lt;&lt; (left shift) in C takes two numbers, the left shifts the bits of the first operand, and the second operand decides the number of places to shift. </a:t>
            </a:r>
            <a:endParaRPr b="1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73239"/>
                </a:solidFill>
                <a:highlight>
                  <a:srgbClr val="FFFFFF"/>
                </a:highlight>
              </a:rPr>
              <a:t>5.</a:t>
            </a:r>
            <a:r>
              <a:rPr b="1" lang="en-GB">
                <a:solidFill>
                  <a:srgbClr val="273239"/>
                </a:solidFill>
                <a:highlight>
                  <a:srgbClr val="FFFFFF"/>
                </a:highlight>
              </a:rPr>
              <a:t>The &gt;&gt; (right shift) in C takes two numbers, right shifts the bits of the first operand, and the second operand decides the number of places to shift. </a:t>
            </a:r>
            <a:endParaRPr b="1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73239"/>
                </a:solidFill>
                <a:highlight>
                  <a:srgbClr val="FFFFFF"/>
                </a:highlight>
              </a:rPr>
              <a:t>6.The ~ (bitwise NOT) in C takes one number and inverts all bits of it.</a:t>
            </a:r>
            <a:endParaRPr b="1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-GB" sz="2500">
                <a:solidFill>
                  <a:srgbClr val="1155CC"/>
                </a:solidFill>
                <a:highlight>
                  <a:srgbClr val="FFFFFF"/>
                </a:highlight>
              </a:rPr>
              <a:t>Bitwise operator</a:t>
            </a:r>
            <a:endParaRPr b="1" sz="2500">
              <a:solidFill>
                <a:srgbClr val="1155C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b="1" sz="25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</a:rPr>
              <a:t>gjdj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14" name="Google Shape;21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900" y="1136650"/>
            <a:ext cx="673417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Jump Statements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The jump statements are continue &amp; Break.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1.Break syntax                                            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0000CD"/>
                </a:solidFill>
                <a:highlight>
                  <a:srgbClr val="FFFFFF"/>
                </a:highlight>
              </a:rPr>
              <a:t>int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i;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0000CD"/>
                </a:solidFill>
                <a:highlight>
                  <a:srgbClr val="FFFFFF"/>
                </a:highlight>
              </a:rPr>
              <a:t>for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(i = </a:t>
            </a:r>
            <a:r>
              <a:rPr b="1" lang="en-GB">
                <a:solidFill>
                  <a:srgbClr val="FF0000"/>
                </a:solidFill>
                <a:highlight>
                  <a:srgbClr val="FFFFFF"/>
                </a:highlight>
              </a:rPr>
              <a:t>0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; i &lt; </a:t>
            </a:r>
            <a:r>
              <a:rPr b="1" lang="en-GB">
                <a:solidFill>
                  <a:srgbClr val="FF0000"/>
                </a:solidFill>
                <a:highlight>
                  <a:srgbClr val="FFFFFF"/>
                </a:highlight>
              </a:rPr>
              <a:t>10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; i++) {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r>
              <a:rPr b="1" lang="en-GB">
                <a:solidFill>
                  <a:srgbClr val="0000CD"/>
                </a:solidFill>
                <a:highlight>
                  <a:srgbClr val="FFFFFF"/>
                </a:highlight>
              </a:rPr>
              <a:t>if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(i == </a:t>
            </a:r>
            <a:r>
              <a:rPr b="1" lang="en-GB">
                <a:solidFill>
                  <a:srgbClr val="FF0000"/>
                </a:solidFill>
                <a:highlight>
                  <a:srgbClr val="FFFFFF"/>
                </a:highlight>
              </a:rPr>
              <a:t>4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  </a:t>
            </a:r>
            <a:r>
              <a:rPr b="1" lang="en-GB">
                <a:solidFill>
                  <a:srgbClr val="0000CD"/>
                </a:solidFill>
                <a:highlight>
                  <a:srgbClr val="FFFFFF"/>
                </a:highlight>
              </a:rPr>
              <a:t>break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}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printf(</a:t>
            </a:r>
            <a:r>
              <a:rPr b="1" lang="en-GB">
                <a:solidFill>
                  <a:srgbClr val="A52A2A"/>
                </a:solidFill>
                <a:highlight>
                  <a:srgbClr val="FFFFFF"/>
                </a:highlight>
              </a:rPr>
              <a:t>"%d\n"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, i);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1155CC"/>
                </a:solidFill>
              </a:rPr>
              <a:t>Jump Statements</a:t>
            </a:r>
            <a:endParaRPr b="1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8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2.</a:t>
            </a:r>
            <a:r>
              <a:rPr b="1" lang="en-GB">
                <a:solidFill>
                  <a:schemeClr val="dk1"/>
                </a:solidFill>
              </a:rPr>
              <a:t>Continue syntax: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0000CD"/>
                </a:solidFill>
                <a:highlight>
                  <a:srgbClr val="FFFFFF"/>
                </a:highlight>
              </a:rPr>
              <a:t>int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i;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0000CD"/>
                </a:solidFill>
                <a:highlight>
                  <a:srgbClr val="FFFFFF"/>
                </a:highlight>
              </a:rPr>
              <a:t>for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(i = </a:t>
            </a:r>
            <a:r>
              <a:rPr b="1" lang="en-GB">
                <a:solidFill>
                  <a:srgbClr val="FF0000"/>
                </a:solidFill>
                <a:highlight>
                  <a:srgbClr val="FFFFFF"/>
                </a:highlight>
              </a:rPr>
              <a:t>0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; i &lt; </a:t>
            </a:r>
            <a:r>
              <a:rPr b="1" lang="en-GB">
                <a:solidFill>
                  <a:srgbClr val="FF0000"/>
                </a:solidFill>
                <a:highlight>
                  <a:srgbClr val="FFFFFF"/>
                </a:highlight>
              </a:rPr>
              <a:t>10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; i++) {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r>
              <a:rPr b="1" lang="en-GB">
                <a:solidFill>
                  <a:srgbClr val="0000CD"/>
                </a:solidFill>
                <a:highlight>
                  <a:srgbClr val="FFFFFF"/>
                </a:highlight>
              </a:rPr>
              <a:t>if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(i == </a:t>
            </a:r>
            <a:r>
              <a:rPr b="1" lang="en-GB">
                <a:solidFill>
                  <a:srgbClr val="FF0000"/>
                </a:solidFill>
                <a:highlight>
                  <a:srgbClr val="FFFFFF"/>
                </a:highlight>
              </a:rPr>
              <a:t>4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  </a:t>
            </a:r>
            <a:r>
              <a:rPr b="1" lang="en-GB">
                <a:solidFill>
                  <a:srgbClr val="0000CD"/>
                </a:solidFill>
                <a:highlight>
                  <a:srgbClr val="FFFFFF"/>
                </a:highlight>
              </a:rPr>
              <a:t>continue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}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printf(</a:t>
            </a:r>
            <a:r>
              <a:rPr b="1" lang="en-GB">
                <a:solidFill>
                  <a:srgbClr val="A52A2A"/>
                </a:solidFill>
                <a:highlight>
                  <a:srgbClr val="FFFFFF"/>
                </a:highlight>
              </a:rPr>
              <a:t>"%d\n"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, i);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Arrays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32" name="Google Shape;232;p39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1.Arrays is the collection of 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Homogeneous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elements.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2.Arrays are used to store multiple values in a single variable, instead of declaring separate variables for each value.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3.To create an array, define the data type (like </a:t>
            </a:r>
            <a:r>
              <a:rPr b="1" lang="en-GB">
                <a:solidFill>
                  <a:srgbClr val="DC143C"/>
                </a:solidFill>
                <a:highlight>
                  <a:srgbClr val="FFFFFF"/>
                </a:highlight>
              </a:rPr>
              <a:t>int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) and specify the name of the array followed by square brackets [ ].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4.Syntax of an Array is     Data_type array_name[ size_of_an_array ]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Example program: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CD"/>
                </a:solidFill>
                <a:highlight>
                  <a:srgbClr val="FFFFFF"/>
                </a:highlight>
              </a:rPr>
              <a:t>int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myNumbers[] = {</a:t>
            </a:r>
            <a:r>
              <a:rPr b="1" lang="en-GB">
                <a:solidFill>
                  <a:srgbClr val="FF0000"/>
                </a:solidFill>
                <a:highlight>
                  <a:srgbClr val="FFFFFF"/>
                </a:highlight>
              </a:rPr>
              <a:t>25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en-GB">
                <a:solidFill>
                  <a:srgbClr val="FF0000"/>
                </a:solidFill>
                <a:highlight>
                  <a:srgbClr val="FFFFFF"/>
                </a:highlight>
              </a:rPr>
              <a:t>50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en-GB">
                <a:solidFill>
                  <a:srgbClr val="FF0000"/>
                </a:solidFill>
                <a:highlight>
                  <a:srgbClr val="FFFFFF"/>
                </a:highlight>
              </a:rPr>
              <a:t>75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en-GB">
                <a:solidFill>
                  <a:srgbClr val="FF0000"/>
                </a:solidFill>
                <a:highlight>
                  <a:srgbClr val="FFFFFF"/>
                </a:highlight>
              </a:rPr>
              <a:t>100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};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printf(</a:t>
            </a:r>
            <a:r>
              <a:rPr b="1" lang="en-GB">
                <a:solidFill>
                  <a:srgbClr val="A52A2A"/>
                </a:solidFill>
                <a:highlight>
                  <a:srgbClr val="FFFFFF"/>
                </a:highlight>
              </a:rPr>
              <a:t>"%d"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, myNumbers[</a:t>
            </a:r>
            <a:r>
              <a:rPr b="1" lang="en-GB">
                <a:solidFill>
                  <a:srgbClr val="FF0000"/>
                </a:solidFill>
                <a:highlight>
                  <a:srgbClr val="FFFFFF"/>
                </a:highlight>
              </a:rPr>
              <a:t>0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]);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b="1" lang="en-GB">
                <a:solidFill>
                  <a:srgbClr val="008000"/>
                </a:solidFill>
                <a:highlight>
                  <a:srgbClr val="FFFFFF"/>
                </a:highlight>
              </a:rPr>
              <a:t>// Outputs 25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Pointers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38" name="Google Shape;238;p40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1.A pointer is a variable that stores the memory address of another variable as its value.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2.Syntax for pointer: </a:t>
            </a:r>
            <a:r>
              <a:rPr b="1" lang="en-GB">
                <a:solidFill>
                  <a:schemeClr val="dk1"/>
                </a:solidFill>
                <a:highlight>
                  <a:srgbClr val="E0E0E0"/>
                </a:highlight>
              </a:rPr>
              <a:t>datatype * </a:t>
            </a:r>
            <a:r>
              <a:rPr b="1" i="1" lang="en-GB">
                <a:solidFill>
                  <a:schemeClr val="dk1"/>
                </a:solidFill>
                <a:highlight>
                  <a:srgbClr val="E0E0E0"/>
                </a:highlight>
              </a:rPr>
              <a:t>ptr</a:t>
            </a:r>
            <a:r>
              <a:rPr b="1" lang="en-GB">
                <a:solidFill>
                  <a:schemeClr val="dk1"/>
                </a:solidFill>
                <a:highlight>
                  <a:srgbClr val="E0E0E0"/>
                </a:highlight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Example program:   #include &lt;stdio.h&gt;</a:t>
            </a:r>
            <a:endParaRPr b="1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int main(){</a:t>
            </a:r>
            <a:endParaRPr b="1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  int x;</a:t>
            </a:r>
            <a:endParaRPr b="1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  int *ptr;</a:t>
            </a:r>
            <a:endParaRPr b="1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  x=5;</a:t>
            </a:r>
            <a:endParaRPr b="1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  *ptr=5;</a:t>
            </a:r>
            <a:endParaRPr b="1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  return 0;</a:t>
            </a:r>
            <a:endParaRPr b="1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}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311700" y="16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Functions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44" name="Google Shape;244;p41"/>
          <p:cNvSpPr txBox="1"/>
          <p:nvPr>
            <p:ph idx="1" type="body"/>
          </p:nvPr>
        </p:nvSpPr>
        <p:spPr>
          <a:xfrm>
            <a:off x="311700" y="642950"/>
            <a:ext cx="8520600" cy="45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1.A function is a block of code which only runs when it is called.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2.You can pass data, known as parameters, into a function.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3.Functions are used to perform certain actions, and they are important for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4.reusing code: Define the code once, and use it many times.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5.Re usability  Functions can be stored in library &amp; re-used  When some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  specific code is to be used more than once, at different places, functions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  avoids repetition of the c.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Syntax:</a:t>
            </a:r>
            <a:r>
              <a:rPr b="1" lang="en-GB">
                <a:solidFill>
                  <a:srgbClr val="0000CD"/>
                </a:solidFill>
                <a:highlight>
                  <a:srgbClr val="FFFFFF"/>
                </a:highlight>
              </a:rPr>
              <a:t>void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i="1" lang="en-GB">
                <a:solidFill>
                  <a:schemeClr val="dk1"/>
                </a:solidFill>
                <a:highlight>
                  <a:srgbClr val="FFFFFF"/>
                </a:highlight>
              </a:rPr>
              <a:t>myFunction</a:t>
            </a: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() {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en-GB">
                <a:solidFill>
                  <a:srgbClr val="008000"/>
                </a:solidFill>
                <a:highlight>
                  <a:srgbClr val="FFFFFF"/>
                </a:highlight>
              </a:rPr>
              <a:t>// code to be executed</a:t>
            </a:r>
            <a:endParaRPr b="1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      }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Difference Between Call by value &amp; Call by Reference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50" name="Google Shape;25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75" y="1084950"/>
            <a:ext cx="8829675" cy="37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Recursive Function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57" name="Google Shape;257;p43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1.Recursion is the technique of making a function call itself. 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2.This technique provides a way to break complicated problems down into simple problems which are easier to solve.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 Example program:    </a:t>
            </a:r>
            <a:r>
              <a:rPr b="1" lang="en-GB" sz="1400">
                <a:solidFill>
                  <a:schemeClr val="dk1"/>
                </a:solidFill>
              </a:rPr>
              <a:t>#include&lt;stdio.h&gt;</a:t>
            </a:r>
            <a:endParaRPr b="1" sz="1400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int sum(int k);</a:t>
            </a:r>
            <a:endParaRPr b="1" sz="1400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int main() {</a:t>
            </a:r>
            <a:endParaRPr b="1" sz="1400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  int result = sum(3);</a:t>
            </a:r>
            <a:endParaRPr b="1" sz="1400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  printf("%d", result);</a:t>
            </a:r>
            <a:endParaRPr b="1" sz="1400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  return 0;</a:t>
            </a:r>
            <a:endParaRPr b="1" sz="1400"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           }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1155CC"/>
                </a:solidFill>
              </a:rPr>
              <a:t>Recursive Function</a:t>
            </a:r>
            <a:endParaRPr b="1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int sum(int k) {</a:t>
            </a:r>
            <a:endParaRPr b="1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if (k &gt; 0) {</a:t>
            </a:r>
            <a:endParaRPr b="1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  return k + sum(k - 1);</a:t>
            </a:r>
            <a:endParaRPr b="1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} else {</a:t>
            </a:r>
            <a:endParaRPr b="1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  return 0;</a:t>
            </a:r>
            <a:endParaRPr b="1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 }</a:t>
            </a:r>
            <a:endParaRPr b="1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}</a:t>
            </a:r>
            <a:endParaRPr b="1">
              <a:solidFill>
                <a:schemeClr val="dk1"/>
              </a:solidFill>
            </a:endParaRPr>
          </a:p>
          <a:p>
            <a:pPr indent="0" lvl="0" marL="2286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// output is 6</a:t>
            </a:r>
            <a:br>
              <a:rPr b="1" lang="en-GB">
                <a:solidFill>
                  <a:schemeClr val="dk1"/>
                </a:solidFill>
              </a:rPr>
            </a:br>
            <a:r>
              <a:rPr b="1" lang="en-GB">
                <a:solidFill>
                  <a:schemeClr val="dk1"/>
                </a:solidFill>
              </a:rPr>
              <a:t>  3*2*1= 6.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Strings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69" name="Google Shape;26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1.A String is a word in which group of letters.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2.Strings are used for storing text/characters.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For example, "Hello World" is a string of characters.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6"/>
          <p:cNvSpPr txBox="1"/>
          <p:nvPr>
            <p:ph type="title"/>
          </p:nvPr>
        </p:nvSpPr>
        <p:spPr>
          <a:xfrm>
            <a:off x="311700" y="69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Types of initialization of string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75" name="Google Shape;27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" y="642675"/>
            <a:ext cx="9067800" cy="44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7"/>
          <p:cNvSpPr txBox="1"/>
          <p:nvPr>
            <p:ph type="title"/>
          </p:nvPr>
        </p:nvSpPr>
        <p:spPr>
          <a:xfrm>
            <a:off x="311700" y="83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Library Functions of String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82" name="Google Shape;282;p47"/>
          <p:cNvSpPr txBox="1"/>
          <p:nvPr>
            <p:ph idx="1" type="body"/>
          </p:nvPr>
        </p:nvSpPr>
        <p:spPr>
          <a:xfrm>
            <a:off x="311700" y="549175"/>
            <a:ext cx="8520600" cy="45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49175"/>
            <a:ext cx="8461725" cy="459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/>
          <p:nvPr>
            <p:ph type="title"/>
          </p:nvPr>
        </p:nvSpPr>
        <p:spPr>
          <a:xfrm>
            <a:off x="311700" y="11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Storage Classes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89" name="Google Shape;289;p48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We have 4 types of storage classes, they are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290" name="Google Shape;29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751413"/>
            <a:ext cx="9067800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Architecture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96" name="Google Shape;296;p49"/>
          <p:cNvSpPr txBox="1"/>
          <p:nvPr>
            <p:ph idx="1" type="body"/>
          </p:nvPr>
        </p:nvSpPr>
        <p:spPr>
          <a:xfrm>
            <a:off x="311700" y="1152475"/>
            <a:ext cx="8520600" cy="38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1.Von </a:t>
            </a:r>
            <a:r>
              <a:rPr b="1" lang="en-GB">
                <a:solidFill>
                  <a:schemeClr val="dk1"/>
                </a:solidFill>
              </a:rPr>
              <a:t>Neumann</a:t>
            </a:r>
            <a:r>
              <a:rPr b="1" lang="en-GB">
                <a:solidFill>
                  <a:schemeClr val="dk1"/>
                </a:solidFill>
              </a:rPr>
              <a:t> Architecture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2.Harvard </a:t>
            </a:r>
            <a:r>
              <a:rPr b="1" lang="en-GB">
                <a:solidFill>
                  <a:schemeClr val="dk1"/>
                </a:solidFill>
              </a:rPr>
              <a:t>Architecture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                                                        Fig-1: </a:t>
            </a:r>
            <a:r>
              <a:rPr b="1" lang="en-GB" sz="2000">
                <a:solidFill>
                  <a:schemeClr val="dk1"/>
                </a:solidFill>
              </a:rPr>
              <a:t>Von Neumann Architecture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297" name="Google Shape;29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350" y="937750"/>
            <a:ext cx="5255950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0"/>
          <p:cNvSpPr txBox="1"/>
          <p:nvPr>
            <p:ph type="title"/>
          </p:nvPr>
        </p:nvSpPr>
        <p:spPr>
          <a:xfrm>
            <a:off x="311700" y="445025"/>
            <a:ext cx="8520600" cy="1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hsdk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3" name="Google Shape;303;p50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22860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 Fig-2:    </a:t>
            </a:r>
            <a:r>
              <a:rPr b="1" lang="en-GB" sz="2000">
                <a:solidFill>
                  <a:schemeClr val="dk1"/>
                </a:solidFill>
              </a:rPr>
              <a:t>Harvard Architecture</a:t>
            </a:r>
            <a:endParaRPr sz="2000"/>
          </a:p>
        </p:txBody>
      </p:sp>
      <p:pic>
        <p:nvPicPr>
          <p:cNvPr id="304" name="Google Shape;30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0228" y="842075"/>
            <a:ext cx="3443558" cy="33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Interfacing of LED to Microcontroller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10" name="Google Shape;31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1.We can interface the LED’s to the microcontroller 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2.LED - Light Emitting Diode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3.Interfacing of </a:t>
            </a:r>
            <a:r>
              <a:rPr b="1" lang="en-GB" sz="1900">
                <a:solidFill>
                  <a:schemeClr val="dk1"/>
                </a:solidFill>
              </a:rPr>
              <a:t>LEDs</a:t>
            </a:r>
            <a:r>
              <a:rPr b="1" lang="en-GB" sz="1900">
                <a:solidFill>
                  <a:schemeClr val="dk1"/>
                </a:solidFill>
              </a:rPr>
              <a:t> are 2 types they are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GB" sz="1900">
                <a:solidFill>
                  <a:schemeClr val="dk1"/>
                </a:solidFill>
              </a:rPr>
              <a:t>Sourcing Circuit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GB" sz="1900">
                <a:solidFill>
                  <a:schemeClr val="dk1"/>
                </a:solidFill>
              </a:rPr>
              <a:t>Sinking Circuit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4. Circuit follows Forward Bias to ON the circuit.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5. Circuit </a:t>
            </a:r>
            <a:r>
              <a:rPr b="1" lang="en-GB" sz="1900">
                <a:solidFill>
                  <a:schemeClr val="dk1"/>
                </a:solidFill>
              </a:rPr>
              <a:t>follows Reverse Bias to OFF the circuit.</a:t>
            </a:r>
            <a:endParaRPr b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Sourcing Circuit &amp; Sinking Circuit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16" name="Google Shape;316;p52"/>
          <p:cNvSpPr txBox="1"/>
          <p:nvPr>
            <p:ph idx="1" type="body"/>
          </p:nvPr>
        </p:nvSpPr>
        <p:spPr>
          <a:xfrm>
            <a:off x="-42612" y="1057550"/>
            <a:ext cx="91440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	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			 1. </a:t>
            </a:r>
            <a:r>
              <a:rPr b="1" lang="en-GB" sz="2000">
                <a:solidFill>
                  <a:schemeClr val="dk1"/>
                </a:solidFill>
              </a:rPr>
              <a:t>Sourcing Circuit                     2. Sinking Circuit 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317" name="Google Shape;31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013" y="1433750"/>
            <a:ext cx="6562725" cy="3238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8" name="Google Shape;318;p52"/>
          <p:cNvGraphicFramePr/>
          <p:nvPr/>
        </p:nvGraphicFramePr>
        <p:xfrm>
          <a:off x="79125" y="225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{A9626E73-4F1A-4E8A-9CB6-E010F405C5E9}</a:tableStyleId>
              </a:tblPr>
              <a:tblGrid>
                <a:gridCol w="558875"/>
                <a:gridCol w="558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Pin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LED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OFF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19" name="Google Shape;319;p52"/>
          <p:cNvGraphicFramePr/>
          <p:nvPr/>
        </p:nvGraphicFramePr>
        <p:xfrm>
          <a:off x="7923400" y="214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{A9626E73-4F1A-4E8A-9CB6-E010F405C5E9}</a:tableStyleId>
              </a:tblPr>
              <a:tblGrid>
                <a:gridCol w="589000"/>
                <a:gridCol w="589000"/>
              </a:tblGrid>
              <a:tr h="38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Pin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LED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OFF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ON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Interfacing of Switch to Microcontroller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25" name="Google Shape;325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1.</a:t>
            </a:r>
            <a:r>
              <a:rPr b="1" lang="en-GB" sz="1900">
                <a:solidFill>
                  <a:schemeClr val="dk1"/>
                </a:solidFill>
              </a:rPr>
              <a:t>We can interface the switch to the microcontroller.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2.Interfacing of switch are 2 types they are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GB" sz="1900">
                <a:solidFill>
                  <a:schemeClr val="dk1"/>
                </a:solidFill>
              </a:rPr>
              <a:t>Pull up circuit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GB" sz="1900">
                <a:solidFill>
                  <a:schemeClr val="dk1"/>
                </a:solidFill>
              </a:rPr>
              <a:t>Pull Down circuit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4"/>
          <p:cNvSpPr txBox="1"/>
          <p:nvPr>
            <p:ph type="title"/>
          </p:nvPr>
        </p:nvSpPr>
        <p:spPr>
          <a:xfrm>
            <a:off x="311700" y="136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Pull up circuit &amp; Pull Down circuit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31" name="Google Shape;331;p54"/>
          <p:cNvSpPr txBox="1"/>
          <p:nvPr>
            <p:ph idx="1" type="body"/>
          </p:nvPr>
        </p:nvSpPr>
        <p:spPr>
          <a:xfrm>
            <a:off x="311700" y="709650"/>
            <a:ext cx="8520600" cy="43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</a:rPr>
              <a:t>agj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32" name="Google Shape;33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709638"/>
            <a:ext cx="3648075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75" y="863675"/>
            <a:ext cx="4238625" cy="2886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54"/>
          <p:cNvGraphicFramePr/>
          <p:nvPr/>
        </p:nvGraphicFramePr>
        <p:xfrm>
          <a:off x="764975" y="390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{A9626E73-4F1A-4E8A-9CB6-E010F405C5E9}</a:tableStyleId>
              </a:tblPr>
              <a:tblGrid>
                <a:gridCol w="1479725"/>
                <a:gridCol w="1479725"/>
              </a:tblGrid>
              <a:tr h="3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Pin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Switch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Pressed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Released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35" name="Google Shape;335;p54"/>
          <p:cNvGraphicFramePr/>
          <p:nvPr/>
        </p:nvGraphicFramePr>
        <p:xfrm>
          <a:off x="5211575" y="390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{A9626E73-4F1A-4E8A-9CB6-E010F405C5E9}</a:tableStyleId>
              </a:tblPr>
              <a:tblGrid>
                <a:gridCol w="1479725"/>
                <a:gridCol w="1479725"/>
              </a:tblGrid>
              <a:tr h="3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Pin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Switch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</a:rPr>
                        <a:t>Released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</a:rPr>
                        <a:t>Pressed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Detection Type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41" name="Google Shape;341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 Detection type are 2 types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Level triggering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Edge triggering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2.Level Triggering: To trigger the task based on the value.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  Example: Volume button in the remote.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3.Edge Triggering: To trigger the task based on the change in the value.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      Example: Power ON/OFF button in the remote.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Interrupts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47" name="Google Shape;347;p56"/>
          <p:cNvSpPr txBox="1"/>
          <p:nvPr>
            <p:ph idx="1" type="body"/>
          </p:nvPr>
        </p:nvSpPr>
        <p:spPr>
          <a:xfrm>
            <a:off x="311700" y="1152475"/>
            <a:ext cx="8520600" cy="38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1.An interrupt is a communication process setup in a microcontroller or                   </a:t>
            </a:r>
            <a:r>
              <a:rPr b="1" lang="en-GB">
                <a:solidFill>
                  <a:schemeClr val="dk1"/>
                </a:solidFill>
              </a:rPr>
              <a:t>microprocessor.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2.An internal or External device requests the MPU to stop the processing.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3.The MPU acknowledge the request.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4.Attends to the request.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5.Goes back to processing where it was interrupted.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6.Interrupt sources - Internal &amp; External Interrupts.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7.Interrupt Handlers - Timers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Interrupt Classification</a:t>
            </a:r>
            <a:endParaRPr b="1">
              <a:solidFill>
                <a:srgbClr val="1155CC"/>
              </a:solidFill>
            </a:endParaRPr>
          </a:p>
        </p:txBody>
      </p:sp>
      <p:pic>
        <p:nvPicPr>
          <p:cNvPr id="353" name="Google Shape;35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1128727"/>
            <a:ext cx="57150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Timers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59" name="Google Shape;359;p58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</a:t>
            </a:r>
            <a:r>
              <a:rPr b="1" lang="en-GB">
                <a:solidFill>
                  <a:srgbClr val="040C28"/>
                </a:solidFill>
                <a:highlight>
                  <a:srgbClr val="FFFFFF"/>
                </a:highlight>
              </a:rPr>
              <a:t>A device for indicating or measuring elapsed time, as a stopwatch</a:t>
            </a: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. 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2.Resolution: width of the timer register.  EXample: 8 bit, </a:t>
            </a: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16 bit</a:t>
            </a: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 registers.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3.Tick: Up tick, Down Tick.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4.Quantum: Time taken by one tick.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5.System clock settings: Frequency = 20MHz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                      1 tick = 4 clock pulse = 4 *Time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                       Time = 4*1/f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                      Quantum = 4*1/20MHz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                                       =0.2μsec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                   Time taken = no of ticks * Quantum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rgbClr val="1F1F1F"/>
                </a:solidFill>
                <a:highlight>
                  <a:srgbClr val="FFFFFF"/>
                </a:highlight>
              </a:rPr>
              <a:t>                   Time = 255*200nsec = 51000nsec.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9"/>
          <p:cNvSpPr txBox="1"/>
          <p:nvPr>
            <p:ph type="title"/>
          </p:nvPr>
        </p:nvSpPr>
        <p:spPr>
          <a:xfrm>
            <a:off x="311700" y="445025"/>
            <a:ext cx="8520600" cy="1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Hidk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5" name="Google Shape;365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2600">
                <a:solidFill>
                  <a:srgbClr val="9900FF"/>
                </a:solidFill>
              </a:rPr>
              <a:t>Washing machine P</a:t>
            </a:r>
            <a:r>
              <a:rPr b="1" lang="en-GB" sz="2600">
                <a:solidFill>
                  <a:srgbClr val="9900FF"/>
                </a:solidFill>
              </a:rPr>
              <a:t>roject Implementation</a:t>
            </a:r>
            <a:endParaRPr b="1" sz="26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0"/>
          <p:cNvSpPr txBox="1"/>
          <p:nvPr>
            <p:ph type="title"/>
          </p:nvPr>
        </p:nvSpPr>
        <p:spPr>
          <a:xfrm>
            <a:off x="311700" y="190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511">
                <a:solidFill>
                  <a:srgbClr val="1155CC"/>
                </a:solidFill>
              </a:rPr>
              <a:t>Applications Required </a:t>
            </a:r>
            <a:endParaRPr b="1" sz="2511">
              <a:solidFill>
                <a:srgbClr val="1155CC"/>
              </a:solidFill>
            </a:endParaRPr>
          </a:p>
        </p:txBody>
      </p:sp>
      <p:sp>
        <p:nvSpPr>
          <p:cNvPr id="371" name="Google Shape;371;p60"/>
          <p:cNvSpPr txBox="1"/>
          <p:nvPr>
            <p:ph idx="1" type="body"/>
          </p:nvPr>
        </p:nvSpPr>
        <p:spPr>
          <a:xfrm>
            <a:off x="311700" y="696525"/>
            <a:ext cx="8520600" cy="44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❖"/>
            </a:pPr>
            <a:r>
              <a:rPr b="1" lang="en-GB" sz="2000">
                <a:solidFill>
                  <a:schemeClr val="dk1"/>
                </a:solidFill>
              </a:rPr>
              <a:t> MPLAB X IDE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❖"/>
            </a:pPr>
            <a:r>
              <a:rPr b="1" lang="en-GB" sz="2000">
                <a:solidFill>
                  <a:schemeClr val="dk1"/>
                </a:solidFill>
              </a:rPr>
              <a:t>XC8 </a:t>
            </a:r>
            <a:r>
              <a:rPr b="1" lang="en-GB" sz="2000">
                <a:solidFill>
                  <a:schemeClr val="dk1"/>
                </a:solidFill>
              </a:rPr>
              <a:t>COMPILER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❖"/>
            </a:pPr>
            <a:r>
              <a:rPr b="1" lang="en-GB" sz="2000">
                <a:solidFill>
                  <a:schemeClr val="dk1"/>
                </a:solidFill>
              </a:rPr>
              <a:t>PICSIMLAB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372" name="Google Shape;37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2313" y="1028737"/>
            <a:ext cx="1918700" cy="108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2325" y="2242550"/>
            <a:ext cx="1625825" cy="135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5174" y="3597400"/>
            <a:ext cx="1860125" cy="1447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Peripherals</a:t>
            </a:r>
            <a:r>
              <a:rPr b="1" lang="en-GB">
                <a:solidFill>
                  <a:srgbClr val="1155CC"/>
                </a:solidFill>
              </a:rPr>
              <a:t> required for the Project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80" name="Google Shape;380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GB" sz="2100">
                <a:solidFill>
                  <a:schemeClr val="dk1"/>
                </a:solidFill>
              </a:rPr>
              <a:t>Switches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GB" sz="2100">
                <a:solidFill>
                  <a:schemeClr val="dk1"/>
                </a:solidFill>
              </a:rPr>
              <a:t>Timers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GB" sz="2100">
                <a:solidFill>
                  <a:schemeClr val="dk1"/>
                </a:solidFill>
              </a:rPr>
              <a:t>CLCD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GB" sz="2100">
                <a:solidFill>
                  <a:schemeClr val="dk1"/>
                </a:solidFill>
              </a:rPr>
              <a:t>Buzzer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GB" sz="2100">
                <a:solidFill>
                  <a:schemeClr val="dk1"/>
                </a:solidFill>
              </a:rPr>
              <a:t>Fan</a:t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</a:rPr>
              <a:t>Steps for Implementation 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86" name="Google Shape;386;p62"/>
          <p:cNvSpPr txBox="1"/>
          <p:nvPr>
            <p:ph idx="1" type="body"/>
          </p:nvPr>
        </p:nvSpPr>
        <p:spPr>
          <a:xfrm>
            <a:off x="311700" y="1152475"/>
            <a:ext cx="8520600" cy="39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1.Press Key-5 to Power on the screen.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2.Power ON.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3.Washing Program screen, </a:t>
            </a:r>
            <a:r>
              <a:rPr b="1" lang="en-GB">
                <a:solidFill>
                  <a:schemeClr val="dk1"/>
                </a:solidFill>
              </a:rPr>
              <a:t>Press key-4 to scroll the options.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4.Long Press on Key-4 to select the option.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5.Water Level program, Press Key-4 to scroll the options.  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6.Press key-5 to Start Screen.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7.Displays the washing time on CLCD.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8.Key-1 is for Door status screen in which means to know Door status.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9.Program completed Status it displays Program completed remove clothes. 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3"/>
          <p:cNvSpPr txBox="1"/>
          <p:nvPr>
            <p:ph type="title"/>
          </p:nvPr>
        </p:nvSpPr>
        <p:spPr>
          <a:xfrm>
            <a:off x="311700" y="445025"/>
            <a:ext cx="8520600" cy="1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hakA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2" name="Google Shape;392;p63"/>
          <p:cNvSpPr txBox="1"/>
          <p:nvPr>
            <p:ph idx="1" type="body"/>
          </p:nvPr>
        </p:nvSpPr>
        <p:spPr>
          <a:xfrm>
            <a:off x="311700" y="750100"/>
            <a:ext cx="8520600" cy="43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39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THANK YOU</a:t>
            </a:r>
            <a:endParaRPr b="1" sz="390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                                                                </a:t>
            </a:r>
            <a:r>
              <a:rPr b="1" lang="en-GB" sz="2000">
                <a:solidFill>
                  <a:srgbClr val="980000"/>
                </a:solidFill>
              </a:rPr>
              <a:t>SUBMITTED BY </a:t>
            </a:r>
            <a:endParaRPr b="1" sz="2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             							         R.GANESH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dk1"/>
                </a:solidFill>
              </a:rPr>
              <a:t>                                                                                </a:t>
            </a:r>
            <a:r>
              <a:rPr b="1" lang="en-GB" sz="2000">
                <a:solidFill>
                  <a:schemeClr val="dk1"/>
                </a:solidFill>
              </a:rPr>
              <a:t>SK.ARIEF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                                                                  K.CHANDANA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                                                                                P.GURUSAI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